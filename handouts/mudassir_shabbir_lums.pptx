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365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27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three-part structure: (1) CS as a discipline, (2) What CS research means, (3) Dr. Mudassir Shabbir's specific research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 is more than coding — it's a formal science of computation, logic, information, and automation. Covers theory through to hands-on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 spans from very abstract (what problems can computers even solve?) to very applied (building apps, training AI). Dr. Mudassir's work bridges many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Part 2. Research in CS can look very different depending on the sub-field.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 research spans proofs on paper all the way to deploying real systems. Dr. Mudassir does all three — heavily theoretical AND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cycle: open problem → survey → design solution → evaluate rigorously → contribute to the field through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Part 3. Dr. Mudassir's research is unusually broad — from pure theoretical math to applied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Dr. Mudassir did his PhD at Rutgers in Computational Geometry under William Steiger. He was Rutgers Honors Fellow. Has worked at Los Alamos National Labs and Bloomberg LP before joining LUMS.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Dr. Mudassir's foundational PhD area. Discrete geometry asks combinatorial questions about geometric objects — how many regions does a set of lines divide the plane into? Computational geometry adds algorithmic efficiency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theory has applications everywhere: social networks, transportation, biology, chemistry. Extremal graph theory is a beautiful area of pure math with deep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controllability is a foundational question in control theory applied to complex networks: power grids, biological circuits, social influence. Zero forcing is the elegant combinatorial bridge to the algebraic controllability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between Dr. Mudassir's core theoretical work and modern AI. Using controllability concepts to build better graph representations is a genuinely novel research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Dr. Mudassir's applied work shows how fundamental methods flow into real-world systems. Smart policing, NLP, and scalable graph algorithms all reflect real societal needs in Pakistan and beyond.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beauty of Dr. Mudassir's research is that it's genuinely unified. Zero forcing is both a pure combinatorics problem AND the key to network controllability AND a way to improve GNNs AND applicable to smart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Encourage students to look up Dr. Mudassir's papers on DBLP or ResearchGate, and to consider research as a career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114800" y="4114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Science 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Research &amp; Discovery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Mudassir Shabbir  |  Associate Professor, CS  | Theory Group, LUMS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6539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Babar Ali School of Science &amp; Engineering</a:t>
            </a:r>
          </a:p>
          <a:p>
            <a:pPr marL="0" indent="0" algn="ctr">
              <a:buNone/>
            </a:pPr>
            <a:endParaRPr lang="en-US" sz="2000" b="1" spc="300" dirty="0">
              <a:solidFill>
                <a:schemeClr val="bg2">
                  <a:lumMod val="75000"/>
                </a:schemeClr>
              </a:solidFill>
              <a:latin typeface="Aptos Display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2000" b="1" spc="300" dirty="0">
              <a:solidFill>
                <a:schemeClr val="bg2">
                  <a:lumMod val="75000"/>
                </a:schemeClr>
              </a:solidFill>
              <a:latin typeface="Aptos Display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b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E91E4-3B7A-01AD-A818-BDF816829318}"/>
              </a:ext>
            </a:extLst>
          </p:cNvPr>
          <p:cNvSpPr txBox="1"/>
          <p:nvPr/>
        </p:nvSpPr>
        <p:spPr>
          <a:xfrm>
            <a:off x="3803200" y="4433054"/>
            <a:ext cx="13500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00" b="1" spc="300" dirty="0">
              <a:solidFill>
                <a:schemeClr val="bg2">
                  <a:lumMod val="75000"/>
                </a:schemeClr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spc="300" dirty="0">
                <a:solidFill>
                  <a:schemeClr val="bg2">
                    <a:lumMod val="75000"/>
                  </a:schemeClr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RISE 2026</a:t>
            </a:r>
            <a:endParaRPr lang="en-US" sz="13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Computer Science?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and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study of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2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>
              <a:buNone/>
            </a:pPr>
            <a:endParaRPr lang="en-US" sz="1350" b="1" dirty="0">
              <a:solidFill>
                <a:srgbClr val="A8D8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5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asks: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“What can be computed?”</a:t>
            </a:r>
            <a:endParaRPr lang="en-US" sz="2000" dirty="0"/>
          </a:p>
          <a:p>
            <a:pPr marL="0" indent="0">
              <a:buNone/>
            </a:pPr>
            <a:r>
              <a:rPr lang="en-US" sz="13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“How efficiently?”</a:t>
            </a:r>
            <a:endParaRPr lang="en-US" sz="2000" dirty="0"/>
          </a:p>
          <a:p>
            <a:pPr marL="0" indent="0">
              <a:buNone/>
            </a:pPr>
            <a:r>
              <a:rPr lang="en-US" sz="13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“How reliably?”</a:t>
            </a:r>
            <a:endParaRPr lang="en-US" sz="2000" dirty="0"/>
          </a:p>
          <a:p>
            <a:pPr marL="0" indent="0">
              <a:buNone/>
            </a:pPr>
            <a:r>
              <a:rPr lang="en-US" sz="13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“How do we apply it?”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96012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40680" y="1097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1612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00600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machines think &amp; learn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0" y="96012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43800" y="1097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16128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1737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903720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 systems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54880" y="278892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40680" y="2926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299008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00600" y="3913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&amp; protecting data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58000" y="278892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0" y="2926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299008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35661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Algorithms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03720" y="3913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of computing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 of Computer Science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 spanning pure mathematics to everyday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2801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Computation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5488" y="24505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Automata, complexity, computability, logic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18688" y="12801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813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10128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310128" y="24505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deep learning, NLP, computer vision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53328" y="128016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4813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44768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Databases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144768" y="24505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analytics, knowledge discovery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4048" y="31546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A527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35584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" y="39044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Architecture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75488" y="432511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compilers, hardware, distributed systems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18688" y="31546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17A6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35584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10128" y="39044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Cybersecurity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310128" y="432511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protocols, cryptography, privacy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53328" y="31546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35584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44768" y="390448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Mathematics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144768" y="432511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theory, geometry, combinatorics, numerics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08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19019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in Computer Science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71600" y="28163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0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do CS research — and why does it matter?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CS Research Look Like?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99032" y="109728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179576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288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&amp; formal models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computability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 &amp; combinatorics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experiments needed — math is the proof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9601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33672" y="109728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17957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8288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29000" y="233172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 &amp; benchmark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performance tests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experiments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evaluation of results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80760" y="960120"/>
            <a:ext cx="2606040" cy="3931920"/>
          </a:xfrm>
          <a:prstGeom prst="roundRect">
            <a:avLst>
              <a:gd name="adj" fmla="val 4912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068312" y="109728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17957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8288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/ Interdisciplinary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63640" y="233172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real-world problems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(medicine, policy…)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collaboration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theory into tools &amp; products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Question to Contribution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arc of a full university-level CS research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463040" cy="356616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9961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2880360"/>
            <a:ext cx="13167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 open question or bottleneck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783080" y="2121408"/>
            <a:ext cx="246888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029968" y="1280160"/>
            <a:ext cx="1463040" cy="356616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50592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49961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21408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075688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103120" y="2880360"/>
            <a:ext cx="13167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existing work — what's known?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93008" y="2121408"/>
            <a:ext cx="246888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39896" y="1280160"/>
            <a:ext cx="1463040" cy="356616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160520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49961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31336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3785616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813048" y="2880360"/>
            <a:ext cx="13167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an algorithm, model or proof strategy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02936" y="2121408"/>
            <a:ext cx="246888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449824" y="1280160"/>
            <a:ext cx="1463040" cy="356616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870448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149961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41264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5495544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522976" y="2880360"/>
            <a:ext cx="13167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 or run experiments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912864" y="2121408"/>
            <a:ext cx="246888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159752" y="1280160"/>
            <a:ext cx="1463040" cy="3566160"/>
          </a:xfrm>
          <a:prstGeom prst="roundRect">
            <a:avLst>
              <a:gd name="adj" fmla="val 7500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580376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1499616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51192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7205472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232904" y="2880360"/>
            <a:ext cx="13167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 a conference or journal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65A8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160520" y="502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184708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Mudassir Shabbir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Areas at LUMS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9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Geometry · Graph Theory · Network Control · Graph ML · Applied Data Science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Mudassir Shabbir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of Computer Science, LUMS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108960" cy="3474720"/>
          </a:xfrm>
          <a:prstGeom prst="roundRect">
            <a:avLst>
              <a:gd name="adj" fmla="val 4412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4015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Computer Science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 University, USA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950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Rutgers Honors Fellow 2011–12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4315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9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Collaborations: Vanderbilt · Los Alamos · Bloomberg LP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94760" y="12618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Fingerprint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94760" y="1719072"/>
            <a:ext cx="5029200" cy="530352"/>
          </a:xfrm>
          <a:prstGeom prst="roundRect">
            <a:avLst>
              <a:gd name="adj" fmla="val 13793"/>
            </a:avLst>
          </a:prstGeom>
          <a:solidFill>
            <a:srgbClr val="E8F4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58768" y="1837944"/>
            <a:ext cx="292608" cy="292608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79392" y="1810512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&amp; Discrete Geometry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94760" y="2377440"/>
            <a:ext cx="5029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58768" y="2496312"/>
            <a:ext cx="292608" cy="292608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79392" y="2468880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 &amp; Extremal Graph Theory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794760" y="3035808"/>
            <a:ext cx="5029200" cy="530352"/>
          </a:xfrm>
          <a:prstGeom prst="roundRect">
            <a:avLst>
              <a:gd name="adj" fmla="val 13793"/>
            </a:avLst>
          </a:prstGeom>
          <a:solidFill>
            <a:srgbClr val="E8F4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58768" y="3154680"/>
            <a:ext cx="292608" cy="292608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79392" y="3127248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Controllability · Zero Forcing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94760" y="3694176"/>
            <a:ext cx="50292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858768" y="381304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79392" y="3785616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Machine Learning &amp; GNNs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794760" y="4352544"/>
            <a:ext cx="5029200" cy="530352"/>
          </a:xfrm>
          <a:prstGeom prst="roundRect">
            <a:avLst>
              <a:gd name="adj" fmla="val 13793"/>
            </a:avLst>
          </a:prstGeom>
          <a:solidFill>
            <a:srgbClr val="E8F4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858768" y="447141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79392" y="4443984"/>
            <a:ext cx="4462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&amp; Smart Policing</a:t>
            </a:r>
            <a:endParaRPr lang="en-US" sz="1200" dirty="0"/>
          </a:p>
        </p:txBody>
      </p:sp>
      <p:pic>
        <p:nvPicPr>
          <p:cNvPr id="26" name="Picture 25" descr="amessbee (Mudassir Shabbir) · GitHub">
            <a:extLst>
              <a:ext uri="{FF2B5EF4-FFF2-40B4-BE49-F238E27FC236}">
                <a16:creationId xmlns:a16="http://schemas.microsoft.com/office/drawing/2014/main" id="{240576A7-AAE0-D234-B4EB-529DBB346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67" y="1455127"/>
            <a:ext cx="1844626" cy="184462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292608"/>
            <a:ext cx="749808" cy="74980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4747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Area 1  —  Algorithmic &amp; Discrete Geometry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251960" cy="3474720"/>
          </a:xfrm>
          <a:prstGeom prst="roundRect">
            <a:avLst>
              <a:gd name="adj" fmla="val 2632"/>
            </a:avLst>
          </a:prstGeom>
          <a:solidFill>
            <a:srgbClr val="F0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56232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efficiently represent, query, and reason about geometric data?</a:t>
            </a:r>
            <a:endParaRPr lang="en-US" sz="13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Shabbir developed new methods for computing succinct (compact) representations of large datasets — finding the smallest structure that still captures essential statistical properties.</a:t>
            </a:r>
            <a:endParaRPr lang="en-US" sz="13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depth &amp; ray-shooting depth — measuring how 'central' a point is within a cloud of data points.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92040" y="128016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74920" y="13898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74920" y="179222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Nonparametric statistics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in high-dim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hitting sets for convex ranges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92040" y="2971800"/>
            <a:ext cx="3794760" cy="1783080"/>
          </a:xfrm>
          <a:prstGeom prst="roundRect">
            <a:avLst>
              <a:gd name="adj" fmla="val 5128"/>
            </a:avLst>
          </a:prstGeom>
          <a:solidFill>
            <a:srgbClr val="E8F4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74920" y="30906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74920" y="3493008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"Ray-Shooting Depth in R² — Algorithms &amp; Applications"  (ESA 2011)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"Computing Small Hitting Sets for Convex Ranges"  (with Langerman &amp; Steiger)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292608"/>
            <a:ext cx="749808" cy="74980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4747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Area 2  —  Combinatorics &amp; Graph Theory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Graph Theory?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is a set of nodes (vertices) connected by edges — the universal language for modelling relationships.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 </a:t>
            </a: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how many? under what constraints?</a:t>
            </a:r>
            <a:endParaRPr lang="en-US" sz="125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Extremal Graph Theory </a:t>
            </a: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seeks the maximum or minimum number of edges a graph can have while still satisfying a given property.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53712" y="128016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09160" y="1353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Graph Theory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09160" y="16642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graphs via eigenvalues of their matrices — graphs 'determined by their spectra'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53712" y="2167128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Decontamination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09160" y="25511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or traversing a contaminated graph with minimum agent count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53712" y="3054096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09160" y="31272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Extremal Problems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09160" y="3438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must a graph of a given density contain a specific substructure?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53712" y="3941064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9160" y="40142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Adjacency Spectra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09160" y="4325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Directed-graph generalisation: oriented graphs sharing generalised skew spectra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292608"/>
            <a:ext cx="749808" cy="74980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4747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Area 3  —  Network Controllability &amp; Zero Forcing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3898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Question: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75564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steer every node in a network to any desired state by controlling just a small subset of nodes (leaders)?"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4754880" cy="1965960"/>
          </a:xfrm>
          <a:prstGeom prst="roundRect">
            <a:avLst>
              <a:gd name="adj" fmla="val 4651"/>
            </a:avLst>
          </a:prstGeom>
          <a:solidFill>
            <a:srgbClr val="F0F8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9077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Forcing — a combinatorial tool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346704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some vertices blue. Rule: if a blue vertex has exactly ONE white neighbour, colour it blue too.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blue spreads to ALL vertices → the initial set is a </a:t>
            </a: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Forcing Set (ZFS)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ZFS size ≈ minimum number of leader nodes needed for strong structural controllability.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76672" y="1280160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32120" y="1371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Controllability Backbone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173736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minimal set of edges that preserve full network controllability — useful for resilient network design.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76672" y="2578608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32120" y="26700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Bounds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532120" y="303580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bounds on Strong Structural Controllability using distances between nodes (IEEE TAC 2023).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76672" y="3877056"/>
            <a:ext cx="3337560" cy="1170432"/>
          </a:xfrm>
          <a:prstGeom prst="roundRect">
            <a:avLst>
              <a:gd name="adj" fmla="val 781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32120" y="39684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Augmentation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32120" y="433425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edges to densify a network while guaranteeing controllability doesn't degrade.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292608"/>
            <a:ext cx="749808" cy="74980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4747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Area 4  —  Graph Machine Learning &amp; GNNs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Neural Networks (GNNs)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901952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treats data as flat tables. But the world is 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graph-structured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social networks, molecules, brains, roads.</a:t>
            </a:r>
            <a:endParaRPr lang="en-US" sz="12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learn representations by aggregating information along edges.</a:t>
            </a:r>
            <a:endParaRPr lang="en-US" sz="12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Shabbir's angle: </a:t>
            </a: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network control theory (zero forcing, average controllability) to build BETTER node features for GNNs.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36592" y="1280160"/>
            <a:ext cx="39776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91456" y="149961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080" y="133502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NeuroGraph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for graph ML in brain connectomics — modelling brain regions as graph nodes (NeurIPS 2023)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36592" y="2157984"/>
            <a:ext cx="39776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91456" y="237744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12080" y="22128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Ego-Centric Spectral Augmentation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12080" y="256032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GNNs using subgraph spectral embeddings to capture local graph structure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36592" y="3035808"/>
            <a:ext cx="39776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91456" y="325526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12080" y="309067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Unlearning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2080" y="343814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How to 'forget' training data from a trained GNN — critical for privacy-preserving AI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36592" y="3913632"/>
            <a:ext cx="397764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91456" y="413308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12080" y="3968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Control-Theoretic Features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2080" y="431596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controllability &amp; rank encoding as graph features to improve social-network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A527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" y="292608"/>
            <a:ext cx="749808" cy="749808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34747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Area 5  —  Applied Data Science &amp; Real-World Impact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411480" y="1280160"/>
            <a:ext cx="2633472" cy="3566160"/>
          </a:xfrm>
          <a:prstGeom prst="roundRect">
            <a:avLst>
              <a:gd name="adj" fmla="val 4861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08176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1499616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10312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Policing &amp; Crime Analytics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2706624"/>
            <a:ext cx="23774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police substation locations using graph-based road distances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spatial crime patterns in Lahore (Smart City research)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law enforcement resource allocation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46120" y="1280160"/>
            <a:ext cx="2633472" cy="3566160"/>
          </a:xfrm>
          <a:prstGeom prst="roundRect">
            <a:avLst>
              <a:gd name="adj" fmla="val 4861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42816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499616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7560" y="210312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383280" y="2706624"/>
            <a:ext cx="23774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AI: automatic dialogue generation &amp; evaluation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detection on social media (Pakistan study)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Speech: fake-audio detection in resource-constrained settings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80760" y="1280160"/>
            <a:ext cx="2633472" cy="3566160"/>
          </a:xfrm>
          <a:prstGeom prst="roundRect">
            <a:avLst>
              <a:gd name="adj" fmla="val 4861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077456" y="1417320"/>
            <a:ext cx="621792" cy="621792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499616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72200" y="210312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Graph Descriptors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17920" y="2706624"/>
            <a:ext cx="23774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MSDGSD: processing very large graphs efficiently for 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representation for edge-stream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distributed systems with graph learning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Picture: How It All Connects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Shabbir's research forms one coherent web — from pure math to real-world impact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0" y="2057400"/>
            <a:ext cx="2194560" cy="1188720"/>
          </a:xfrm>
          <a:prstGeom prst="ellipse">
            <a:avLst/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20440" y="2121408"/>
            <a:ext cx="21031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0A234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5331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1968" y="1261872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93408" y="135331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Extremal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Theory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017520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1089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Controllability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Zero Forcing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01968" y="3017520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1A527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93408" y="31089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4187952"/>
            <a:ext cx="2148840" cy="987552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427939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96312" y="1755648"/>
            <a:ext cx="978408" cy="576072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1755648"/>
            <a:ext cx="932688" cy="576072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96312" y="2971800"/>
            <a:ext cx="978408" cy="539496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2971800"/>
            <a:ext cx="932688" cy="539496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53712" y="3246120"/>
            <a:ext cx="9144" cy="941832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17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08483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1671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215798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is a vast field spanning pure mathematics to real-world engineering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0D3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28529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284378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means asking precise questions and finding verifiable answers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0080" y="35387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9224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" y="352958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Mudassir works at the exciting intersection of discrete math, control theory, and modern AI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14223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0D3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0080" y="42245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9224" y="4224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" y="4215384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forcing is a single elegant idea that unlocks insights in all three domains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4400" y="48280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Babar Ali School of Science &amp; Engineering  —  LUMS, Lahore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1597</Words>
  <Application>Microsoft Office PowerPoint</Application>
  <PresentationFormat>On-screen Show (16:9)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 Display</vt:lpstr>
      <vt:lpstr>Arial</vt:lpstr>
      <vt:lpstr>Calibri</vt:lpstr>
      <vt:lpstr>Cambria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&amp; Dr. Mudassir Shabbir – LUMS</dc:title>
  <dc:subject>PptxGenJS Presentation</dc:subject>
  <dc:creator>Claude / Anthropic</dc:creator>
  <cp:lastModifiedBy>Danish  Javed</cp:lastModifiedBy>
  <cp:revision>5</cp:revision>
  <dcterms:created xsi:type="dcterms:W3CDTF">2026-06-26T06:48:58Z</dcterms:created>
  <dcterms:modified xsi:type="dcterms:W3CDTF">2026-06-26T07:14:13Z</dcterms:modified>
</cp:coreProperties>
</file>